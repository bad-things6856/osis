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92024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of</a:t>
            </a:r>
            <a:endParaRPr lang="en-US" sz="4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&amp; iOS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36118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look at how mobile platform documentation is</a:t>
            </a:r>
            <a:endParaRPr lang="en-US" sz="1600" dirty="0"/>
          </a:p>
          <a:p>
            <a:pPr algn="l" indent="0" marL="0">
              <a:buNone/>
            </a:pPr>
            <a:r>
              <a:rPr lang="en-US" sz="16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written, and maintained.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052560" y="960120"/>
            <a:ext cx="1234440" cy="12344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5" name="Image 0" descr="/home/claude/assets/androi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9448" y="1298448"/>
            <a:ext cx="73152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195560" y="1691640"/>
            <a:ext cx="1051560" cy="1051560"/>
          </a:xfrm>
          <a:prstGeom prst="ellipse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pic>
        <p:nvPicPr>
          <p:cNvPr id="7" name="Image 1" descr="/home/claude/assets/app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1947672"/>
            <a:ext cx="548640" cy="5486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Your Name  |  Date: September 16, 2026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8229600" y="6537960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of Android &amp; iOS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mobile documentation means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0876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material that explains how an app, SDK, or platform works</a:t>
            </a:r>
            <a:endParaRPr lang="en-US" sz="1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setup guides, API references, UI guidelines, and release notes</a:t>
            </a:r>
            <a:endParaRPr lang="en-US" sz="1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for two audiences: end users and developers</a:t>
            </a:r>
            <a:endParaRPr lang="en-US" sz="1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alongside the code and changes as the platform evolves</a:t>
            </a:r>
            <a:endParaRPr lang="en-US" sz="1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and iOS each publish their own official documentation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583680" y="1417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platforms, two philosophies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720840" y="1965960"/>
            <a:ext cx="2148840" cy="777240"/>
          </a:xfrm>
          <a:prstGeom prst="roundRect">
            <a:avLst>
              <a:gd name="adj" fmla="val 49412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20840" y="19659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720840" y="276148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source, customizable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2331720"/>
            <a:ext cx="2148840" cy="777240"/>
          </a:xfrm>
          <a:prstGeom prst="roundRect">
            <a:avLst>
              <a:gd name="adj" fmla="val 49412"/>
            </a:avLst>
          </a:prstGeom>
          <a:solidFill>
            <a:srgbClr val="2166C9"/>
          </a:solidFill>
          <a:ln w="12700">
            <a:solidFill>
              <a:srgbClr val="2166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89720" y="23317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189720" y="312724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source, curated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39776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a platform is a bit like picking a pill — each one leads to a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different set of docs, tools, and rules to learn.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Your Name  |  Date: September 16, 2026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6537960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of Android &amp; iOS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/home/claude/assets/androi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603504"/>
            <a:ext cx="38404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11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Documentation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868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and purpose — developer.android.com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17320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Guides: step-by-step topics like navigation, permissions, background work</a:t>
            </a:r>
            <a:endParaRPr lang="en-US" sz="1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reference: every class and method in the Android SDK</a:t>
            </a:r>
            <a:endParaRPr lang="en-US" sz="1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Design: the official visual and interaction guidelines</a:t>
            </a:r>
            <a:endParaRPr lang="en-US" sz="1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Samples: runnable example projects on GitHub</a:t>
            </a:r>
            <a:endParaRPr lang="en-US" sz="1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notes: what changed in each Android Studio / API level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858000" y="1737360"/>
            <a:ext cx="4663440" cy="288036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086600" y="1920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layout of an Android doc page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086600" y="2331720"/>
            <a:ext cx="4160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paragraph</a:t>
            </a:r>
            <a:endParaRPr lang="en-US" sz="12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snippet (Kotlin, with Java tab)</a:t>
            </a:r>
            <a:endParaRPr lang="en-US" sz="12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“Try it” link to a sample</a:t>
            </a:r>
            <a:endParaRPr lang="en-US" sz="12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guides list</a:t>
            </a:r>
            <a:endParaRPr lang="en-US" sz="12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Last-updated date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Your Name  |  Date: September 16, 2026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6537960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of Android &amp; iOS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Development Workflow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simplified flow from idea to Play Store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219456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" y="2423160"/>
            <a:ext cx="640080" cy="64008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6" name="Image 0" descr="/home/claude/assets/desig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2164" y="2569464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31546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76072" y="349300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Design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2468880" y="274320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724912" y="219456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87852" y="2423160"/>
            <a:ext cx="640080" cy="64008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12" name="Image 1" descr="/home/claude/assets/cod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156" y="256946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724912" y="31546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798064" y="349300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Kotlin, Android Studio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4690872" y="274320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4946904" y="219456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609844" y="2423160"/>
            <a:ext cx="640080" cy="64008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18" name="Image 2" descr="/home/claude/assets/bu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6148" y="2569464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946904" y="31546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5020056" y="349300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Emulator, unit tests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6912864" y="274320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7168896" y="219456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831836" y="2423160"/>
            <a:ext cx="640080" cy="64008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24" name="Image 3" descr="/home/claude/assets/bui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8140" y="2569464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168896" y="31546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7242048" y="349300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9134856" y="274320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9390888" y="219456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053828" y="2423160"/>
            <a:ext cx="640080" cy="64008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0" name="Image 4" descr="/home/claude/assets/uploa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0132" y="2569464"/>
            <a:ext cx="347472" cy="34747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390888" y="31546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9464040" y="349300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Console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548640" y="45720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usually mirrors this pipeline — separate pages for design specs, coding guides, testing checklists, and release/publish steps.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Your Name  |  Date: September 16, 2026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8229600" y="6537960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of Android &amp; iOS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pic>
        <p:nvPicPr>
          <p:cNvPr id="3" name="Image 0" descr="/home/claude/assets/app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48640"/>
            <a:ext cx="347472" cy="38404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11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Documentation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868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and purpose — developer.apple.com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17320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Interface Guidelines (HIG): rules for layout, motion, and tone</a:t>
            </a:r>
            <a:endParaRPr lang="en-US" sz="1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reference: framework docs for UIKit, SwiftUI, Core Data, etc.</a:t>
            </a:r>
            <a:endParaRPr lang="en-US" sz="1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code: downloadable Xcode projects</a:t>
            </a:r>
            <a:endParaRPr lang="en-US" sz="1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WWDC sessions: video + transcript documentation for new features</a:t>
            </a:r>
            <a:endParaRPr lang="en-US" sz="1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notes: changes per Xcode / iOS SDK version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858000" y="1508760"/>
            <a:ext cx="4663440" cy="310896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086600" y="16916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layout of an Apple doc page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086600" y="2103120"/>
            <a:ext cx="4160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/ symbol summary</a:t>
            </a:r>
            <a:endParaRPr lang="en-US" sz="12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 (Swift, with Obj-C tab)</a:t>
            </a:r>
            <a:endParaRPr lang="en-US" sz="12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paragraph</a:t>
            </a:r>
            <a:endParaRPr lang="en-US" sz="12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“See Also” related symbols</a:t>
            </a:r>
            <a:endParaRPr lang="en-US" sz="12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/ version availability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Your Name  |  Date: September 16, 2026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6537960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of Android &amp; iOS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vs iOS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4206240"/>
        </p:xfrm>
        <a:graphic>
          <a:graphicData uri="http://schemas.openxmlformats.org/drawingml/2006/table">
            <a:tbl>
              <a:tblPr/>
              <a:tblGrid>
                <a:gridCol w="2926080"/>
                <a:gridCol w="4114800"/>
                <a:gridCol w="41148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A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60C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Kotlin / Java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Swift / Objective-C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Studio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 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Interface Guidelines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Play Console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Store Connect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 portal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developer.android.com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developer.apple.com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Staggered across devices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Centralized, same-day rollout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Your Name  |  Date: September 16, 2026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6537960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of Android &amp; iOS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3" name="Image 0" descr="/home/claude/assets/api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56692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SDK Documentation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from each platform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53035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9050">
            <a:solidFill>
              <a:srgbClr val="3DDC8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SDK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103120"/>
            <a:ext cx="4709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— lifecycle, navigation, Room database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 — documented HTTP client for REST APIs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WorkManager — background task scheduling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CameraX — consistent camera API across devices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3035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9050">
            <a:solidFill>
              <a:srgbClr val="0A84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3796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6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SDK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2240280"/>
            <a:ext cx="4709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 — declarative UI framework reference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URLSession — documented networking API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— local persistence framework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— reactive event-handling framework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Your Name  |  Date: September 16, 2026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6537960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of Android &amp; iOS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3" name="Image 0" descr="/home/claude/asset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486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114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Developer Documentation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6583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Shortens onboarding time for new developers joining a project</a:t>
            </a:r>
            <a:endParaRPr lang="en-US" sz="15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repeat support questions from end users</a:t>
            </a:r>
            <a:endParaRPr lang="en-US" sz="15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debugging faster — the reference is one search away</a:t>
            </a:r>
            <a:endParaRPr lang="en-US" sz="15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teams consistent when multiple people touch the same code</a:t>
            </a:r>
            <a:endParaRPr lang="en-US" sz="15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apps meet accessibility and compliance requirements</a:t>
            </a:r>
            <a:endParaRPr lang="en-US" sz="15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knowledge after a team member leaves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452360" y="1737360"/>
            <a:ext cx="4114800" cy="310896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8096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audiences, two doc types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End-user docs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centers, FAQs, in-app tips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6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docs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68096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references, SDK guides, sample code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Your Name  |  Date: September 16, 2026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6537960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of Android &amp; iOS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updated, and searchable documentation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66928" cy="566928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5" name="Image 0" descr="/home/claude/asset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728216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5819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clear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9019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language, short sentences, real examples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566928" cy="566928"/>
          </a:xfrm>
          <a:prstGeom prst="ellipse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pic>
        <p:nvPicPr>
          <p:cNvPr id="9" name="Image 1" descr="/home/claude/assets/updat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688336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25420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updated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71600" y="28620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docs every release, not once a year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520440"/>
            <a:ext cx="566928" cy="566928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13" name="Image 2" descr="/home/claude/assets/sear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648456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35021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searchable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71600" y="38221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titles, tags, and a working search bar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4480560"/>
            <a:ext cx="566928" cy="566928"/>
          </a:xfrm>
          <a:prstGeom prst="ellipse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pic>
        <p:nvPicPr>
          <p:cNvPr id="17" name="Image 3" descr="/home/claude/assets/boo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4608576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71600" y="44622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it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71600" y="47823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docs to the SDK / OS version they describe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7040880" y="1600200"/>
            <a:ext cx="4480560" cy="384048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269480" y="1783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checklist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7269480" y="2240280"/>
            <a:ext cx="4023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every code sample actually run?</a:t>
            </a:r>
            <a:endParaRPr lang="en-US" sz="12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last-updated date visible?</a:t>
            </a:r>
            <a:endParaRPr lang="en-US" sz="12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new hire follow it without asking questions?</a:t>
            </a:r>
            <a:endParaRPr lang="en-US" sz="12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screenshots current with the latest UI?</a:t>
            </a:r>
            <a:endParaRPr lang="en-US" sz="12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one clear owner for each doc page?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Your Name  |  Date: September 16, 2026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8229600" y="6537960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of Android &amp; iOS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45920"/>
            <a:ext cx="66751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and iOS each maintain their own complete documentation ecosystem</a:t>
            </a:r>
            <a:endParaRPr lang="en-US" sz="15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docs cover both end users and developers, not just one audience</a:t>
            </a:r>
            <a:endParaRPr lang="en-US" sz="15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(guides, reference, samples, release notes) matters as much as content</a:t>
            </a:r>
            <a:endParaRPr lang="en-US" sz="15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should be treated as part of the product, not an afterthought</a:t>
            </a:r>
            <a:endParaRPr lang="en-US" sz="15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current, and searchable docs save time for everyone who reads them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503920" y="2103120"/>
            <a:ext cx="1097280" cy="109728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6" name="Image 0" descr="/home/claude/assets/androi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4232" y="2395728"/>
            <a:ext cx="676656" cy="5120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646920" y="2788920"/>
            <a:ext cx="914400" cy="914400"/>
          </a:xfrm>
          <a:prstGeom prst="ellipse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pic>
        <p:nvPicPr>
          <p:cNvPr id="8" name="Image 1" descr="/home/claude/assets/app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8088" y="2999232"/>
            <a:ext cx="512064" cy="5120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366760" y="40690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platforms.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goal: docs people can trust.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Your Name  |  Date: September 16, 2026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8229600" y="6537960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of Android &amp; iOS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2026-09-16T13:04:15Z</dcterms:created>
  <dcterms:modified xsi:type="dcterms:W3CDTF">2026-09-16T13:04:15Z</dcterms:modified>
</cp:coreProperties>
</file>